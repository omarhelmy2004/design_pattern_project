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2482" y="1671638"/>
            <a:ext cx="1418537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1278006" y="2294567"/>
            <a:ext cx="2587489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Wellness Platform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2828897"/>
            <a:ext cx="40005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safe, anonymous space for emotional support and connection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5865019" y="1893094"/>
            <a:ext cx="1414463" cy="1414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201936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1166217"/>
            <a:ext cx="30003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mental health awareness but persistent stigma prevents people from seeking help</a:t>
            </a:r>
            <a:endParaRPr lang="en-US" sz="1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9186"/>
            <a:ext cx="28575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0125" y="2023467"/>
            <a:ext cx="3000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finding authentic peer support from people who truly understand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2702123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0125" y="2666405"/>
            <a:ext cx="3000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24/7 accessible emotional support when crisis moments strike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3345061"/>
            <a:ext cx="200025" cy="2286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00125" y="3309342"/>
            <a:ext cx="3000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anonymity in vulnerable moments to share without judgment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1279624"/>
            <a:ext cx="514350" cy="5143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657891" y="1960066"/>
            <a:ext cx="4002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</a:t>
            </a:r>
            <a:endParaRPr lang="en-US" sz="9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531" y="2410123"/>
            <a:ext cx="642938" cy="5143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618517" y="3090565"/>
            <a:ext cx="478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9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797" y="3540621"/>
            <a:ext cx="514350" cy="51435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79186" y="4221063"/>
            <a:ext cx="7576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Unavailability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3614" y="890290"/>
            <a:ext cx="3196772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WithMe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244" y="1745559"/>
            <a:ext cx="385763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71750" y="1713607"/>
            <a:ext cx="46434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Peer Support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571750" y="1967210"/>
            <a:ext cx="4643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freely without revealing your identity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2571750" y="2361540"/>
            <a:ext cx="46434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571750" y="2615143"/>
            <a:ext cx="4643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around shared struggles and challenges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3" y="3041424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71750" y="3009472"/>
            <a:ext cx="46434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571750" y="3263075"/>
            <a:ext cx="4643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empathetic listener powered by LLM technology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106" y="3689356"/>
            <a:ext cx="300038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71750" y="3657405"/>
            <a:ext cx="46434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571750" y="3911008"/>
            <a:ext cx="4643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mood and build meaningful streaks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675" y="4337289"/>
            <a:ext cx="342900" cy="342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71750" y="4305337"/>
            <a:ext cx="46434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Design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2571750" y="4558940"/>
            <a:ext cx="4643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anonymous architecture with zero personal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971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8" y="1466255"/>
            <a:ext cx="400050" cy="400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1610" y="2055614"/>
            <a:ext cx="165740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Venting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500188" y="2337792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emotions without revealing your identity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466255"/>
            <a:ext cx="500063" cy="400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05382" y="2055614"/>
            <a:ext cx="127658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43563" y="2337792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communities around shared struggles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281" y="3237905"/>
            <a:ext cx="500063" cy="4000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19325" y="3827264"/>
            <a:ext cx="116197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500188" y="4109442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empathetic listener with conversation history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666" y="3237905"/>
            <a:ext cx="350044" cy="4000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05271" y="3827264"/>
            <a:ext cx="127683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643563" y="4109442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mood and build meaningful streaks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5068491"/>
            <a:ext cx="514350" cy="5143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286125" y="4995267"/>
            <a:ext cx="3571875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Micro-Empathy Reactions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3286125" y="5311378"/>
            <a:ext cx="3571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support with "I hear you" and "Warmth" reactions to show you care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500" y="1369814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React 19 application with responsive design, Forest &amp; Sage theming, and real-time user interactions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1909837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113434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endpoints with comprehensive coverage for all features, CORS-enabled for frontend integration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653457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857054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3.x with Bridge Pattern architecture, clean separation of concerns, and scalable design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3397076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3600673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database with optimized schema, indexing, and support for all core features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857250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86413" y="860822"/>
            <a:ext cx="6190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86375" y="1114425"/>
            <a:ext cx="9190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86375" y="1340151"/>
            <a:ext cx="9190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Build Tool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286375" y="1565877"/>
            <a:ext cx="9190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286375" y="1791602"/>
            <a:ext cx="91906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HTTP Client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286375" y="2200191"/>
            <a:ext cx="91906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 Icons</a:t>
            </a:r>
            <a:endParaRPr lang="en-US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85" y="857250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360" y="860822"/>
            <a:ext cx="59558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91185" y="1114425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91185" y="1340151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491185" y="1565877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491185" y="1791602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91185" y="2017328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Build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732" y="857250"/>
            <a:ext cx="150019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10475" y="860822"/>
            <a:ext cx="6353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674732" y="1114425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674732" y="1340151"/>
            <a:ext cx="8977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Schema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7674732" y="1748740"/>
            <a:ext cx="8977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7674732" y="2157329"/>
            <a:ext cx="8977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Indexing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42900"/>
            <a:ext cx="3714750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Pattern Architecture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28625" y="1350169"/>
            <a:ext cx="3714750" cy="548283"/>
          </a:xfrm>
          <a:prstGeom prst="rect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464469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Layer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639491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REST Endpoints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8625" y="1927027"/>
            <a:ext cx="3714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64000"/>
              </a:lnSpc>
              <a:buNone/>
            </a:pPr>
            <a:r>
              <a:rPr lang="en-US" sz="1050" dirty="0">
                <a:solidFill>
                  <a:srgbClr val="7CB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8625" y="2098477"/>
            <a:ext cx="3714750" cy="548283"/>
          </a:xfrm>
          <a:prstGeom prst="rect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212777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Interface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2387798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28625" y="2675334"/>
            <a:ext cx="3714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64000"/>
              </a:lnSpc>
              <a:buNone/>
            </a:pPr>
            <a:r>
              <a:rPr lang="en-US" sz="1050" dirty="0">
                <a:solidFill>
                  <a:srgbClr val="7CB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8625" y="2846784"/>
            <a:ext cx="3714750" cy="548283"/>
          </a:xfrm>
          <a:prstGeom prst="rect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961084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Implementation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3136106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Layer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28625" y="3423642"/>
            <a:ext cx="3714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64000"/>
              </a:lnSpc>
              <a:buNone/>
            </a:pPr>
            <a:r>
              <a:rPr lang="en-US" sz="1050" dirty="0">
                <a:solidFill>
                  <a:srgbClr val="7CB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8625" y="3595092"/>
            <a:ext cx="3714750" cy="548283"/>
          </a:xfrm>
          <a:prstGeom prst="rect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3709392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Layer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1500" y="3884414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Implementation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28625" y="4171950"/>
            <a:ext cx="3714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64000"/>
              </a:lnSpc>
              <a:buNone/>
            </a:pPr>
            <a:r>
              <a:rPr lang="en-US" sz="1050" dirty="0">
                <a:solidFill>
                  <a:srgbClr val="7CB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8625" y="4343400"/>
            <a:ext cx="3714750" cy="548283"/>
          </a:xfrm>
          <a:prstGeom prst="rect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" y="4457700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1500" y="4632722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00625" y="1802904"/>
            <a:ext cx="37147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3" y="2172593"/>
            <a:ext cx="142875" cy="1428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57800" y="2156520"/>
            <a:ext cx="267460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provider swapping (Database ↔ Cache ↔ API)</a:t>
            </a:r>
            <a:endParaRPr lang="en-US" sz="8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13" y="2477988"/>
            <a:ext cx="142875" cy="1428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57800" y="2461915"/>
            <a:ext cx="148679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of concerns</a:t>
            </a:r>
            <a:endParaRPr lang="en-US" sz="8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913" y="2783384"/>
            <a:ext cx="142875" cy="1428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57800" y="2767310"/>
            <a:ext cx="196313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testability and maintainability</a:t>
            </a:r>
            <a:endParaRPr lang="en-US" sz="8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13" y="3088779"/>
            <a:ext cx="142875" cy="1428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3072705"/>
            <a:ext cx="154372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scalability and flexibility</a:t>
            </a:r>
            <a:endParaRPr lang="en-US" sz="8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913" y="3394174"/>
            <a:ext cx="142875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378101"/>
            <a:ext cx="220457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abstraction from implementation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94780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uses a normalized MySQL database with seven core tables optimized for anonymity, scalability, and performance.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47" y="2019114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1997683"/>
            <a:ext cx="31075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92969" y="2154845"/>
            <a:ext cx="31075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user profiles with theme preferences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9152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2969" y="2437721"/>
            <a:ext cx="31075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circles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92969" y="2594883"/>
            <a:ext cx="31075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Topic-based support communities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2899190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2969" y="2877759"/>
            <a:ext cx="31075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892969" y="3034922"/>
            <a:ext cx="31075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posts with optional circle context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5143500" y="914400"/>
            <a:ext cx="1660922" cy="60861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143500" y="914400"/>
            <a:ext cx="21431" cy="60861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6" name="Text 10"/>
          <p:cNvSpPr/>
          <p:nvPr/>
        </p:nvSpPr>
        <p:spPr>
          <a:xfrm>
            <a:off x="5250656" y="1021556"/>
            <a:ext cx="1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250656" y="1193006"/>
            <a:ext cx="1446609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Circle-specific conversations and discussions</a:t>
            </a:r>
            <a:endParaRPr lang="en-US" sz="600" dirty="0"/>
          </a:p>
        </p:txBody>
      </p:sp>
      <p:sp>
        <p:nvSpPr>
          <p:cNvPr id="18" name="Shape 12"/>
          <p:cNvSpPr/>
          <p:nvPr/>
        </p:nvSpPr>
        <p:spPr>
          <a:xfrm>
            <a:off x="6911578" y="914400"/>
            <a:ext cx="1660922" cy="60861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6911578" y="914400"/>
            <a:ext cx="21431" cy="60861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0" name="Text 14"/>
          <p:cNvSpPr/>
          <p:nvPr/>
        </p:nvSpPr>
        <p:spPr>
          <a:xfrm>
            <a:off x="7018734" y="1021556"/>
            <a:ext cx="1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check_ins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018734" y="1193006"/>
            <a:ext cx="1446609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mood tracking with streak calculation</a:t>
            </a:r>
            <a:endParaRPr lang="en-US" sz="600" dirty="0"/>
          </a:p>
        </p:txBody>
      </p:sp>
      <p:sp>
        <p:nvSpPr>
          <p:cNvPr id="22" name="Shape 16"/>
          <p:cNvSpPr/>
          <p:nvPr/>
        </p:nvSpPr>
        <p:spPr>
          <a:xfrm>
            <a:off x="5143500" y="1630170"/>
            <a:ext cx="1660922" cy="60861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143500" y="1630170"/>
            <a:ext cx="21431" cy="60861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4" name="Text 18"/>
          <p:cNvSpPr/>
          <p:nvPr/>
        </p:nvSpPr>
        <p:spPr>
          <a:xfrm>
            <a:off x="5250656" y="1737327"/>
            <a:ext cx="1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reactions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5250656" y="1908777"/>
            <a:ext cx="1446609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Micro-empathy: "I hear you" and "Warmth"</a:t>
            </a:r>
            <a:endParaRPr lang="en-US" sz="600" dirty="0"/>
          </a:p>
        </p:txBody>
      </p:sp>
      <p:sp>
        <p:nvSpPr>
          <p:cNvPr id="26" name="Shape 20"/>
          <p:cNvSpPr/>
          <p:nvPr/>
        </p:nvSpPr>
        <p:spPr>
          <a:xfrm>
            <a:off x="6911578" y="1630170"/>
            <a:ext cx="1660922" cy="60861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6911578" y="1630170"/>
            <a:ext cx="21431" cy="60861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8" name="Text 22"/>
          <p:cNvSpPr/>
          <p:nvPr/>
        </p:nvSpPr>
        <p:spPr>
          <a:xfrm>
            <a:off x="7018734" y="1737327"/>
            <a:ext cx="1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companion_history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7018734" y="1908777"/>
            <a:ext cx="1446609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AI conversation history per user</a:t>
            </a:r>
            <a:endParaRPr lang="en-US" sz="600" dirty="0"/>
          </a:p>
        </p:txBody>
      </p:sp>
      <p:sp>
        <p:nvSpPr>
          <p:cNvPr id="30" name="Shape 24"/>
          <p:cNvSpPr/>
          <p:nvPr/>
        </p:nvSpPr>
        <p:spPr>
          <a:xfrm>
            <a:off x="5143500" y="2345941"/>
            <a:ext cx="1660922" cy="60861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5143500" y="2345941"/>
            <a:ext cx="21431" cy="60861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32" name="Text 26"/>
          <p:cNvSpPr/>
          <p:nvPr/>
        </p:nvSpPr>
        <p:spPr>
          <a:xfrm>
            <a:off x="5250656" y="2453097"/>
            <a:ext cx="1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circle_memberships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250656" y="2624547"/>
            <a:ext cx="1446609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User-circle relationships with join dates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316" y="414338"/>
            <a:ext cx="4859369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&amp; Sage Design System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071563" y="1166217"/>
            <a:ext cx="3357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Light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478756" y="1491258"/>
            <a:ext cx="571500" cy="571500"/>
          </a:xfrm>
          <a:prstGeom prst="rect">
            <a:avLst/>
          </a:prstGeom>
          <a:solidFill>
            <a:srgbClr val="2D5016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29166" y="1925603"/>
            <a:ext cx="270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2135981" y="1491258"/>
            <a:ext cx="571500" cy="571500"/>
          </a:xfrm>
          <a:prstGeom prst="rect">
            <a:avLst/>
          </a:prstGeom>
          <a:solidFill>
            <a:srgbClr val="6B8E23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01599" y="1925603"/>
            <a:ext cx="24023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2793206" y="1491258"/>
            <a:ext cx="571500" cy="571500"/>
          </a:xfrm>
          <a:prstGeom prst="rect">
            <a:avLst/>
          </a:prstGeom>
          <a:solidFill>
            <a:srgbClr val="F5F3EE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69248" y="1925603"/>
            <a:ext cx="41938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3450431" y="1491258"/>
            <a:ext cx="571500" cy="571500"/>
          </a:xfrm>
          <a:prstGeom prst="rect">
            <a:avLst/>
          </a:prstGeom>
          <a:solidFill>
            <a:srgbClr val="3E3E3E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64102" y="1925603"/>
            <a:ext cx="14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1071563" y="2205633"/>
            <a:ext cx="33575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forest green on cream background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14875" y="1166217"/>
            <a:ext cx="3357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Dark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2069" y="1491258"/>
            <a:ext cx="571500" cy="571500"/>
          </a:xfrm>
          <a:prstGeom prst="rect">
            <a:avLst/>
          </a:prstGeom>
          <a:solidFill>
            <a:srgbClr val="7CB342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72478" y="1925603"/>
            <a:ext cx="270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5779294" y="1491258"/>
            <a:ext cx="571500" cy="571500"/>
          </a:xfrm>
          <a:prstGeom prst="rect">
            <a:avLst/>
          </a:prstGeom>
          <a:solidFill>
            <a:srgbClr val="A1D82F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4912" y="1925603"/>
            <a:ext cx="24023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6436519" y="1491258"/>
            <a:ext cx="571500" cy="571500"/>
          </a:xfrm>
          <a:prstGeom prst="rect">
            <a:avLst/>
          </a:prstGeom>
          <a:solidFill>
            <a:srgbClr val="1B2B1F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2561" y="1925603"/>
            <a:ext cx="41938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7093744" y="1491258"/>
            <a:ext cx="571500" cy="571500"/>
          </a:xfrm>
          <a:prstGeom prst="rect">
            <a:avLst/>
          </a:prstGeom>
          <a:solidFill>
            <a:srgbClr val="E8E6E1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07414" y="1925603"/>
            <a:ext cx="14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4714875" y="2205633"/>
            <a:ext cx="33575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forest green on deep forest background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71563" y="2651392"/>
            <a:ext cx="3357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Light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478756" y="2976432"/>
            <a:ext cx="571500" cy="571500"/>
          </a:xfrm>
          <a:prstGeom prst="rect">
            <a:avLst/>
          </a:prstGeom>
          <a:solidFill>
            <a:srgbClr val="8B9B7F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29166" y="3410778"/>
            <a:ext cx="270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2135981" y="2976432"/>
            <a:ext cx="571500" cy="571500"/>
          </a:xfrm>
          <a:prstGeom prst="rect">
            <a:avLst/>
          </a:prstGeom>
          <a:solidFill>
            <a:srgbClr val="A89968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01599" y="3410778"/>
            <a:ext cx="24023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2793206" y="2976432"/>
            <a:ext cx="571500" cy="571500"/>
          </a:xfrm>
          <a:prstGeom prst="rect">
            <a:avLst/>
          </a:prstGeom>
          <a:solidFill>
            <a:srgbClr val="F9F7F4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69248" y="3410778"/>
            <a:ext cx="41938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550" dirty="0"/>
          </a:p>
        </p:txBody>
      </p:sp>
      <p:sp>
        <p:nvSpPr>
          <p:cNvPr id="31" name="Shape 28"/>
          <p:cNvSpPr/>
          <p:nvPr/>
        </p:nvSpPr>
        <p:spPr>
          <a:xfrm>
            <a:off x="3450431" y="2976432"/>
            <a:ext cx="571500" cy="571500"/>
          </a:xfrm>
          <a:prstGeom prst="rect">
            <a:avLst/>
          </a:prstGeom>
          <a:solidFill>
            <a:srgbClr val="4A4A4A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64102" y="3410778"/>
            <a:ext cx="14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1071563" y="3690807"/>
            <a:ext cx="33575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sage on off-white background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714875" y="2651392"/>
            <a:ext cx="3357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Dark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2069" y="2976432"/>
            <a:ext cx="571500" cy="571500"/>
          </a:xfrm>
          <a:prstGeom prst="rect">
            <a:avLst/>
          </a:prstGeom>
          <a:solidFill>
            <a:srgbClr val="C4D4B8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72478" y="3410778"/>
            <a:ext cx="270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5779294" y="2976432"/>
            <a:ext cx="571500" cy="571500"/>
          </a:xfrm>
          <a:prstGeom prst="rect">
            <a:avLst/>
          </a:prstGeom>
          <a:solidFill>
            <a:srgbClr val="D4AF9A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4912" y="3410778"/>
            <a:ext cx="24023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550" dirty="0"/>
          </a:p>
        </p:txBody>
      </p:sp>
      <p:sp>
        <p:nvSpPr>
          <p:cNvPr id="39" name="Shape 36"/>
          <p:cNvSpPr/>
          <p:nvPr/>
        </p:nvSpPr>
        <p:spPr>
          <a:xfrm>
            <a:off x="6436519" y="2976432"/>
            <a:ext cx="571500" cy="571500"/>
          </a:xfrm>
          <a:prstGeom prst="rect">
            <a:avLst/>
          </a:prstGeom>
          <a:solidFill>
            <a:srgbClr val="2A2A26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2561" y="3410778"/>
            <a:ext cx="41938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7093744" y="2976432"/>
            <a:ext cx="571500" cy="571500"/>
          </a:xfrm>
          <a:prstGeom prst="rect">
            <a:avLst/>
          </a:prstGeom>
          <a:solidFill>
            <a:srgbClr val="E8E6E1"/>
          </a:solidFill>
          <a:ln w="18288">
            <a:solidFill>
              <a:srgbClr val="3D4D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07414" y="3410778"/>
            <a:ext cx="14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4714875" y="3690807"/>
            <a:ext cx="33575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 sage on deep charcoal background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Technology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89472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frontend is built with modern React 19 and Vite, providing a fast, responsive, and beautiful user experience with the Forest &amp; Sage design system.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428094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2392375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React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00125" y="2581684"/>
            <a:ext cx="30003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React 19 with hooks and context API for state management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93599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125" y="2900279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Lightning-Fast Builds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00125" y="3089588"/>
            <a:ext cx="30003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provides instant HMR and optimized production builds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443901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0125" y="3408183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00125" y="3597492"/>
            <a:ext cx="30003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approach with CSS variables for theming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5143500" y="1403579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143500" y="1403579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23237"/>
            <a:ext cx="200025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1819703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5257800" y="2023300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UI library with hooks</a:t>
            </a:r>
            <a:endParaRPr lang="en-US" sz="600" dirty="0"/>
          </a:p>
        </p:txBody>
      </p:sp>
      <p:sp>
        <p:nvSpPr>
          <p:cNvPr id="19" name="Shape 12"/>
          <p:cNvSpPr/>
          <p:nvPr/>
        </p:nvSpPr>
        <p:spPr>
          <a:xfrm>
            <a:off x="6929438" y="1403579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20" name="Shape 13"/>
          <p:cNvSpPr/>
          <p:nvPr/>
        </p:nvSpPr>
        <p:spPr>
          <a:xfrm>
            <a:off x="6929438" y="1403579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38" y="1523237"/>
            <a:ext cx="150019" cy="2000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43738" y="1819703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7043738" y="2023300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build tool</a:t>
            </a:r>
            <a:endParaRPr lang="en-US" sz="600" dirty="0"/>
          </a:p>
        </p:txBody>
      </p:sp>
      <p:sp>
        <p:nvSpPr>
          <p:cNvPr id="24" name="Shape 16"/>
          <p:cNvSpPr/>
          <p:nvPr/>
        </p:nvSpPr>
        <p:spPr>
          <a:xfrm>
            <a:off x="5143500" y="2391901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5143500" y="2391901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511558"/>
            <a:ext cx="225028" cy="2000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257800" y="2808024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5257800" y="3011621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</a:t>
            </a:r>
            <a:endParaRPr lang="en-US" sz="600" dirty="0"/>
          </a:p>
        </p:txBody>
      </p:sp>
      <p:sp>
        <p:nvSpPr>
          <p:cNvPr id="29" name="Shape 20"/>
          <p:cNvSpPr/>
          <p:nvPr/>
        </p:nvSpPr>
        <p:spPr>
          <a:xfrm>
            <a:off x="6929438" y="2391901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6929438" y="2391901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3738" y="2511558"/>
            <a:ext cx="200025" cy="2000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43738" y="2808024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7043738" y="3011621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client for API calls</a:t>
            </a:r>
            <a:endParaRPr lang="en-US" sz="600" dirty="0"/>
          </a:p>
        </p:txBody>
      </p:sp>
      <p:sp>
        <p:nvSpPr>
          <p:cNvPr id="34" name="Shape 24"/>
          <p:cNvSpPr/>
          <p:nvPr/>
        </p:nvSpPr>
        <p:spPr>
          <a:xfrm>
            <a:off x="5143500" y="3380222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35" name="Shape 25"/>
          <p:cNvSpPr/>
          <p:nvPr/>
        </p:nvSpPr>
        <p:spPr>
          <a:xfrm>
            <a:off x="5143500" y="3380222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499879"/>
            <a:ext cx="200025" cy="20002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57800" y="3796345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5257800" y="3999942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SVG icons</a:t>
            </a:r>
            <a:endParaRPr lang="en-US" sz="600" dirty="0"/>
          </a:p>
        </p:txBody>
      </p:sp>
      <p:sp>
        <p:nvSpPr>
          <p:cNvPr id="39" name="Shape 28"/>
          <p:cNvSpPr/>
          <p:nvPr/>
        </p:nvSpPr>
        <p:spPr>
          <a:xfrm>
            <a:off x="6929438" y="3380222"/>
            <a:ext cx="1643063" cy="845446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40" name="Shape 29"/>
          <p:cNvSpPr/>
          <p:nvPr/>
        </p:nvSpPr>
        <p:spPr>
          <a:xfrm>
            <a:off x="6929438" y="3380222"/>
            <a:ext cx="21431" cy="845446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3738" y="3499879"/>
            <a:ext cx="200025" cy="20002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043738" y="3796345"/>
            <a:ext cx="1414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</a:t>
            </a:r>
            <a:endParaRPr lang="en-US" sz="800" dirty="0"/>
          </a:p>
        </p:txBody>
      </p:sp>
      <p:sp>
        <p:nvSpPr>
          <p:cNvPr id="43" name="Text 31"/>
          <p:cNvSpPr/>
          <p:nvPr/>
        </p:nvSpPr>
        <p:spPr>
          <a:xfrm>
            <a:off x="7043738" y="3999942"/>
            <a:ext cx="14144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theming system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0346" y="485775"/>
            <a:ext cx="342330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Technology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237655"/>
            <a:ext cx="207169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64519" y="1239441"/>
            <a:ext cx="179534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FRAMEWORK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3" y="1610916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50231" y="1580555"/>
            <a:ext cx="25431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1850231" y="1755577"/>
            <a:ext cx="25431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enterprise framework for rapid development</a:t>
            </a:r>
            <a:endParaRPr lang="en-US" sz="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2068813"/>
            <a:ext cx="17859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57375" y="2038452"/>
            <a:ext cx="25360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1857375" y="2213474"/>
            <a:ext cx="25360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support version with modern features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983" y="2526711"/>
            <a:ext cx="160734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50231" y="2496350"/>
            <a:ext cx="25431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1850231" y="2671372"/>
            <a:ext cx="25431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automation and dependency management</a:t>
            </a:r>
            <a:endParaRPr lang="en-US" sz="7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237655"/>
            <a:ext cx="182166" cy="20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18484" y="1239441"/>
            <a:ext cx="200198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PERSISTENCE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952" y="1610916"/>
            <a:ext cx="160734" cy="1428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29200" y="1580555"/>
            <a:ext cx="25431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900" dirty="0"/>
          </a:p>
        </p:txBody>
      </p:sp>
      <p:sp>
        <p:nvSpPr>
          <p:cNvPr id="19" name="Text 10"/>
          <p:cNvSpPr/>
          <p:nvPr/>
        </p:nvSpPr>
        <p:spPr>
          <a:xfrm>
            <a:off x="5029200" y="1755577"/>
            <a:ext cx="25431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Object-relational mapping and query abstraction</a:t>
            </a:r>
            <a:endParaRPr lang="en-US" sz="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811" y="2068813"/>
            <a:ext cx="125016" cy="14287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29200" y="2038452"/>
            <a:ext cx="25431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5029200" y="2213474"/>
            <a:ext cx="25431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relational database with advanced features</a:t>
            </a:r>
            <a:endParaRPr lang="en-US" sz="7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594" y="2526711"/>
            <a:ext cx="178594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36344" y="2496350"/>
            <a:ext cx="25360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</a:t>
            </a:r>
            <a:endParaRPr lang="en-US" sz="900" dirty="0"/>
          </a:p>
        </p:txBody>
      </p:sp>
      <p:sp>
        <p:nvSpPr>
          <p:cNvPr id="25" name="Text 14"/>
          <p:cNvSpPr/>
          <p:nvPr/>
        </p:nvSpPr>
        <p:spPr>
          <a:xfrm>
            <a:off x="5036344" y="2671372"/>
            <a:ext cx="25360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implementation for seamless ORM</a:t>
            </a:r>
            <a:endParaRPr lang="en-US" sz="750" dirty="0"/>
          </a:p>
        </p:txBody>
      </p:sp>
      <p:sp>
        <p:nvSpPr>
          <p:cNvPr id="26" name="Text 15"/>
          <p:cNvSpPr/>
          <p:nvPr/>
        </p:nvSpPr>
        <p:spPr>
          <a:xfrm>
            <a:off x="1571625" y="3382873"/>
            <a:ext cx="60007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486" y="3709699"/>
            <a:ext cx="128588" cy="1285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844511" y="3707913"/>
            <a:ext cx="10227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Design</a:t>
            </a:r>
            <a:endParaRPr lang="en-US" sz="8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5919" y="3709699"/>
            <a:ext cx="128588" cy="12858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355944" y="3707913"/>
            <a:ext cx="7750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85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9" y="3709699"/>
            <a:ext cx="128588" cy="12858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4619634" y="3707913"/>
            <a:ext cx="10993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</a:t>
            </a:r>
            <a:endParaRPr lang="en-US" sz="85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7559" y="3709699"/>
            <a:ext cx="128588" cy="12858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207584" y="3707913"/>
            <a:ext cx="129184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85775"/>
            <a:ext cx="4000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Overview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2" y="1057275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023342"/>
            <a:ext cx="36576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28650" y="1198364"/>
            <a:ext cx="365760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signup, login, and profile management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453028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1419095"/>
            <a:ext cx="36576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Venting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28650" y="1594117"/>
            <a:ext cx="365760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retrieve, and manage anonymous vents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22" y="1848780"/>
            <a:ext cx="250031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" y="1814847"/>
            <a:ext cx="36576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28650" y="1989869"/>
            <a:ext cx="365760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join, and participate in support circles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7" y="2244533"/>
            <a:ext cx="175022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650" y="2210600"/>
            <a:ext cx="36576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Check-ins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28650" y="2385622"/>
            <a:ext cx="365760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mood tracking and streak management</a:t>
            </a:r>
            <a:endParaRPr lang="en-US" sz="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322" y="2640285"/>
            <a:ext cx="250031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28650" y="2606353"/>
            <a:ext cx="36576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628650" y="2781374"/>
            <a:ext cx="365760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chat and conversation history</a:t>
            </a:r>
            <a:endParaRPr lang="en-US" sz="7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637580"/>
            <a:ext cx="142875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57775" y="628650"/>
            <a:ext cx="13017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Profile</a:t>
            </a:r>
            <a:endParaRPr lang="en-US" sz="800" dirty="0"/>
          </a:p>
        </p:txBody>
      </p:sp>
      <p:sp>
        <p:nvSpPr>
          <p:cNvPr id="21" name="Shape 12"/>
          <p:cNvSpPr/>
          <p:nvPr/>
        </p:nvSpPr>
        <p:spPr>
          <a:xfrm>
            <a:off x="4943475" y="817959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2" name="Text 13"/>
          <p:cNvSpPr/>
          <p:nvPr/>
        </p:nvSpPr>
        <p:spPr>
          <a:xfrm>
            <a:off x="4943475" y="817959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23" name="Text 14"/>
          <p:cNvSpPr/>
          <p:nvPr/>
        </p:nvSpPr>
        <p:spPr>
          <a:xfrm>
            <a:off x="4943475" y="971550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/api/profile/signup</a:t>
            </a:r>
            <a:endParaRPr lang="en-US" sz="650" dirty="0"/>
          </a:p>
        </p:txBody>
      </p:sp>
      <p:sp>
        <p:nvSpPr>
          <p:cNvPr id="24" name="Text 15"/>
          <p:cNvSpPr/>
          <p:nvPr/>
        </p:nvSpPr>
        <p:spPr>
          <a:xfrm>
            <a:off x="4943475" y="1105495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anonymous user</a:t>
            </a:r>
            <a:endParaRPr lang="en-US" sz="600" dirty="0"/>
          </a:p>
        </p:txBody>
      </p:sp>
      <p:sp>
        <p:nvSpPr>
          <p:cNvPr id="25" name="Shape 16"/>
          <p:cNvSpPr/>
          <p:nvPr/>
        </p:nvSpPr>
        <p:spPr>
          <a:xfrm>
            <a:off x="4943475" y="1269802"/>
            <a:ext cx="250785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6" name="Text 17"/>
          <p:cNvSpPr/>
          <p:nvPr/>
        </p:nvSpPr>
        <p:spPr>
          <a:xfrm>
            <a:off x="4943475" y="1269802"/>
            <a:ext cx="250785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600" dirty="0"/>
          </a:p>
        </p:txBody>
      </p:sp>
      <p:sp>
        <p:nvSpPr>
          <p:cNvPr id="27" name="Text 18"/>
          <p:cNvSpPr/>
          <p:nvPr/>
        </p:nvSpPr>
        <p:spPr>
          <a:xfrm>
            <a:off x="4943475" y="1423392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/api/profile/{userId}</a:t>
            </a:r>
            <a:endParaRPr lang="en-US" sz="650" dirty="0"/>
          </a:p>
        </p:txBody>
      </p:sp>
      <p:sp>
        <p:nvSpPr>
          <p:cNvPr id="28" name="Text 19"/>
          <p:cNvSpPr/>
          <p:nvPr/>
        </p:nvSpPr>
        <p:spPr>
          <a:xfrm>
            <a:off x="4943475" y="1557338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user profile details</a:t>
            </a:r>
            <a:endParaRPr lang="en-US" sz="600" dirty="0"/>
          </a:p>
        </p:txBody>
      </p:sp>
      <p:sp>
        <p:nvSpPr>
          <p:cNvPr id="29" name="Shape 20"/>
          <p:cNvSpPr/>
          <p:nvPr/>
        </p:nvSpPr>
        <p:spPr>
          <a:xfrm>
            <a:off x="4943475" y="1721644"/>
            <a:ext cx="250785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30" name="Text 21"/>
          <p:cNvSpPr/>
          <p:nvPr/>
        </p:nvSpPr>
        <p:spPr>
          <a:xfrm>
            <a:off x="4943475" y="1721644"/>
            <a:ext cx="250785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600" dirty="0"/>
          </a:p>
        </p:txBody>
      </p:sp>
      <p:sp>
        <p:nvSpPr>
          <p:cNvPr id="31" name="Text 22"/>
          <p:cNvSpPr/>
          <p:nvPr/>
        </p:nvSpPr>
        <p:spPr>
          <a:xfrm>
            <a:off x="4943475" y="1875234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/api/profile/{userId}/theme</a:t>
            </a:r>
            <a:endParaRPr lang="en-US" sz="650" dirty="0"/>
          </a:p>
        </p:txBody>
      </p:sp>
      <p:sp>
        <p:nvSpPr>
          <p:cNvPr id="32" name="Text 23"/>
          <p:cNvSpPr/>
          <p:nvPr/>
        </p:nvSpPr>
        <p:spPr>
          <a:xfrm>
            <a:off x="4943475" y="2009180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theme preference</a:t>
            </a:r>
            <a:endParaRPr lang="en-US" sz="6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725" y="637580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15175" y="628650"/>
            <a:ext cx="412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Venting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7029450" y="817959"/>
            <a:ext cx="250785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36" name="Text 26"/>
          <p:cNvSpPr/>
          <p:nvPr/>
        </p:nvSpPr>
        <p:spPr>
          <a:xfrm>
            <a:off x="7029450" y="817959"/>
            <a:ext cx="250785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600" dirty="0"/>
          </a:p>
        </p:txBody>
      </p:sp>
      <p:sp>
        <p:nvSpPr>
          <p:cNvPr id="37" name="Text 27"/>
          <p:cNvSpPr/>
          <p:nvPr/>
        </p:nvSpPr>
        <p:spPr>
          <a:xfrm>
            <a:off x="7029450" y="971550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/api/vents</a:t>
            </a:r>
            <a:endParaRPr lang="en-US" sz="650" dirty="0"/>
          </a:p>
        </p:txBody>
      </p:sp>
      <p:sp>
        <p:nvSpPr>
          <p:cNvPr id="38" name="Text 28"/>
          <p:cNvSpPr/>
          <p:nvPr/>
        </p:nvSpPr>
        <p:spPr>
          <a:xfrm>
            <a:off x="7029450" y="1105495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global vents feed</a:t>
            </a:r>
            <a:endParaRPr lang="en-US" sz="600" dirty="0"/>
          </a:p>
        </p:txBody>
      </p:sp>
      <p:sp>
        <p:nvSpPr>
          <p:cNvPr id="39" name="Shape 29"/>
          <p:cNvSpPr/>
          <p:nvPr/>
        </p:nvSpPr>
        <p:spPr>
          <a:xfrm>
            <a:off x="7029450" y="1269802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40" name="Text 30"/>
          <p:cNvSpPr/>
          <p:nvPr/>
        </p:nvSpPr>
        <p:spPr>
          <a:xfrm>
            <a:off x="7029450" y="1269802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41" name="Text 31"/>
          <p:cNvSpPr/>
          <p:nvPr/>
        </p:nvSpPr>
        <p:spPr>
          <a:xfrm>
            <a:off x="7029450" y="1423392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/api/vents</a:t>
            </a:r>
            <a:endParaRPr lang="en-US" sz="650" dirty="0"/>
          </a:p>
        </p:txBody>
      </p:sp>
      <p:sp>
        <p:nvSpPr>
          <p:cNvPr id="42" name="Text 32"/>
          <p:cNvSpPr/>
          <p:nvPr/>
        </p:nvSpPr>
        <p:spPr>
          <a:xfrm>
            <a:off x="7029450" y="1557338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vent</a:t>
            </a:r>
            <a:endParaRPr lang="en-US" sz="600" dirty="0"/>
          </a:p>
        </p:txBody>
      </p:sp>
      <p:sp>
        <p:nvSpPr>
          <p:cNvPr id="43" name="Shape 33"/>
          <p:cNvSpPr/>
          <p:nvPr/>
        </p:nvSpPr>
        <p:spPr>
          <a:xfrm>
            <a:off x="7029450" y="1721644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44" name="Text 34"/>
          <p:cNvSpPr/>
          <p:nvPr/>
        </p:nvSpPr>
        <p:spPr>
          <a:xfrm>
            <a:off x="7029450" y="1721644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45" name="Text 35"/>
          <p:cNvSpPr/>
          <p:nvPr/>
        </p:nvSpPr>
        <p:spPr>
          <a:xfrm>
            <a:off x="7029450" y="1875234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/api/vents/{id}/reactions</a:t>
            </a:r>
            <a:endParaRPr lang="en-US" sz="650" dirty="0"/>
          </a:p>
        </p:txBody>
      </p:sp>
      <p:sp>
        <p:nvSpPr>
          <p:cNvPr id="46" name="Text 36"/>
          <p:cNvSpPr/>
          <p:nvPr/>
        </p:nvSpPr>
        <p:spPr>
          <a:xfrm>
            <a:off x="7029450" y="2009180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reaction (I hear you, Warmth)</a:t>
            </a:r>
            <a:endParaRPr lang="en-US" sz="6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253853"/>
            <a:ext cx="142875" cy="1143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057775" y="2244923"/>
            <a:ext cx="107373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Circles &amp; Messages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4943475" y="2434233"/>
            <a:ext cx="250785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50" name="Text 39"/>
          <p:cNvSpPr/>
          <p:nvPr/>
        </p:nvSpPr>
        <p:spPr>
          <a:xfrm>
            <a:off x="4943475" y="2434233"/>
            <a:ext cx="250785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600" dirty="0"/>
          </a:p>
        </p:txBody>
      </p:sp>
      <p:sp>
        <p:nvSpPr>
          <p:cNvPr id="51" name="Text 40"/>
          <p:cNvSpPr/>
          <p:nvPr/>
        </p:nvSpPr>
        <p:spPr>
          <a:xfrm>
            <a:off x="4943475" y="2587823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/api/circles</a:t>
            </a:r>
            <a:endParaRPr lang="en-US" sz="650" dirty="0"/>
          </a:p>
        </p:txBody>
      </p:sp>
      <p:sp>
        <p:nvSpPr>
          <p:cNvPr id="52" name="Text 41"/>
          <p:cNvSpPr/>
          <p:nvPr/>
        </p:nvSpPr>
        <p:spPr>
          <a:xfrm>
            <a:off x="4943475" y="2721769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public circles directory</a:t>
            </a:r>
            <a:endParaRPr lang="en-US" sz="600" dirty="0"/>
          </a:p>
        </p:txBody>
      </p:sp>
      <p:sp>
        <p:nvSpPr>
          <p:cNvPr id="53" name="Shape 42"/>
          <p:cNvSpPr/>
          <p:nvPr/>
        </p:nvSpPr>
        <p:spPr>
          <a:xfrm>
            <a:off x="4943475" y="2886075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54" name="Text 43"/>
          <p:cNvSpPr/>
          <p:nvPr/>
        </p:nvSpPr>
        <p:spPr>
          <a:xfrm>
            <a:off x="4943475" y="2886075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55" name="Text 44"/>
          <p:cNvSpPr/>
          <p:nvPr/>
        </p:nvSpPr>
        <p:spPr>
          <a:xfrm>
            <a:off x="4943475" y="3039666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/api/circles/{id}/join</a:t>
            </a:r>
            <a:endParaRPr lang="en-US" sz="650" dirty="0"/>
          </a:p>
        </p:txBody>
      </p:sp>
      <p:sp>
        <p:nvSpPr>
          <p:cNvPr id="56" name="Text 45"/>
          <p:cNvSpPr/>
          <p:nvPr/>
        </p:nvSpPr>
        <p:spPr>
          <a:xfrm>
            <a:off x="4943475" y="3173611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 circle</a:t>
            </a:r>
            <a:endParaRPr lang="en-US" sz="600" dirty="0"/>
          </a:p>
        </p:txBody>
      </p:sp>
      <p:sp>
        <p:nvSpPr>
          <p:cNvPr id="57" name="Shape 46"/>
          <p:cNvSpPr/>
          <p:nvPr/>
        </p:nvSpPr>
        <p:spPr>
          <a:xfrm>
            <a:off x="4943475" y="3337917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58" name="Text 47"/>
          <p:cNvSpPr/>
          <p:nvPr/>
        </p:nvSpPr>
        <p:spPr>
          <a:xfrm>
            <a:off x="4943475" y="3337917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59" name="Text 48"/>
          <p:cNvSpPr/>
          <p:nvPr/>
        </p:nvSpPr>
        <p:spPr>
          <a:xfrm>
            <a:off x="4943475" y="3491508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/api/circles/{id}/messages</a:t>
            </a:r>
            <a:endParaRPr lang="en-US" sz="650" dirty="0"/>
          </a:p>
        </p:txBody>
      </p:sp>
      <p:sp>
        <p:nvSpPr>
          <p:cNvPr id="60" name="Text 49"/>
          <p:cNvSpPr/>
          <p:nvPr/>
        </p:nvSpPr>
        <p:spPr>
          <a:xfrm>
            <a:off x="4943475" y="3625453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message to circle</a:t>
            </a:r>
            <a:endParaRPr lang="en-US" sz="6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3725" y="2253853"/>
            <a:ext cx="100013" cy="114300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7100888" y="2244923"/>
            <a:ext cx="132092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Check-ins &amp; Companion</a:t>
            </a:r>
            <a:endParaRPr lang="en-US" sz="800" dirty="0"/>
          </a:p>
        </p:txBody>
      </p:sp>
      <p:sp>
        <p:nvSpPr>
          <p:cNvPr id="63" name="Shape 51"/>
          <p:cNvSpPr/>
          <p:nvPr/>
        </p:nvSpPr>
        <p:spPr>
          <a:xfrm>
            <a:off x="7029450" y="2434233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64" name="Text 52"/>
          <p:cNvSpPr/>
          <p:nvPr/>
        </p:nvSpPr>
        <p:spPr>
          <a:xfrm>
            <a:off x="7029450" y="2434233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65" name="Text 53"/>
          <p:cNvSpPr/>
          <p:nvPr/>
        </p:nvSpPr>
        <p:spPr>
          <a:xfrm>
            <a:off x="7029450" y="2587823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/api/checkins</a:t>
            </a:r>
            <a:endParaRPr lang="en-US" sz="650" dirty="0"/>
          </a:p>
        </p:txBody>
      </p:sp>
      <p:sp>
        <p:nvSpPr>
          <p:cNvPr id="66" name="Text 54"/>
          <p:cNvSpPr/>
          <p:nvPr/>
        </p:nvSpPr>
        <p:spPr>
          <a:xfrm>
            <a:off x="7029450" y="2721769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daily check-in</a:t>
            </a:r>
            <a:endParaRPr lang="en-US" sz="600" dirty="0"/>
          </a:p>
        </p:txBody>
      </p:sp>
      <p:sp>
        <p:nvSpPr>
          <p:cNvPr id="67" name="Shape 55"/>
          <p:cNvSpPr/>
          <p:nvPr/>
        </p:nvSpPr>
        <p:spPr>
          <a:xfrm>
            <a:off x="7029450" y="2886075"/>
            <a:ext cx="305786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68" name="Text 56"/>
          <p:cNvSpPr/>
          <p:nvPr/>
        </p:nvSpPr>
        <p:spPr>
          <a:xfrm>
            <a:off x="7029450" y="2886075"/>
            <a:ext cx="305786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600" dirty="0"/>
          </a:p>
        </p:txBody>
      </p:sp>
      <p:sp>
        <p:nvSpPr>
          <p:cNvPr id="69" name="Text 57"/>
          <p:cNvSpPr/>
          <p:nvPr/>
        </p:nvSpPr>
        <p:spPr>
          <a:xfrm>
            <a:off x="7029450" y="3039666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/api/companion/chat</a:t>
            </a:r>
            <a:endParaRPr lang="en-US" sz="650" dirty="0"/>
          </a:p>
        </p:txBody>
      </p:sp>
      <p:sp>
        <p:nvSpPr>
          <p:cNvPr id="70" name="Text 58"/>
          <p:cNvSpPr/>
          <p:nvPr/>
        </p:nvSpPr>
        <p:spPr>
          <a:xfrm>
            <a:off x="7029450" y="3173611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AI companion</a:t>
            </a:r>
            <a:endParaRPr lang="en-US" sz="600" dirty="0"/>
          </a:p>
        </p:txBody>
      </p:sp>
      <p:sp>
        <p:nvSpPr>
          <p:cNvPr id="71" name="Shape 59"/>
          <p:cNvSpPr/>
          <p:nvPr/>
        </p:nvSpPr>
        <p:spPr>
          <a:xfrm>
            <a:off x="7029450" y="3337917"/>
            <a:ext cx="250785" cy="125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72" name="Text 60"/>
          <p:cNvSpPr/>
          <p:nvPr/>
        </p:nvSpPr>
        <p:spPr>
          <a:xfrm>
            <a:off x="7029450" y="3337917"/>
            <a:ext cx="250785" cy="12501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600" dirty="0"/>
          </a:p>
        </p:txBody>
      </p:sp>
      <p:sp>
        <p:nvSpPr>
          <p:cNvPr id="73" name="Text 61"/>
          <p:cNvSpPr/>
          <p:nvPr/>
        </p:nvSpPr>
        <p:spPr>
          <a:xfrm>
            <a:off x="7029450" y="3491508"/>
            <a:ext cx="18288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D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/api/companion/history/{userId}</a:t>
            </a:r>
            <a:endParaRPr lang="en-US" sz="650" dirty="0"/>
          </a:p>
        </p:txBody>
      </p:sp>
      <p:sp>
        <p:nvSpPr>
          <p:cNvPr id="74" name="Text 62"/>
          <p:cNvSpPr/>
          <p:nvPr/>
        </p:nvSpPr>
        <p:spPr>
          <a:xfrm>
            <a:off x="7029450" y="3625453"/>
            <a:ext cx="18288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conversation history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500" y="1369814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is built on a privacy-first architecture where user anonymity is not a feature—it's the foundation.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1935566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PHILOSOPHY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139162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collect zero personal information. Users are identified only by cryptographically generated anonymous IDs.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704914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MODEL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908511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enforced at every layer: API, service, database, and communication channels.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88" y="1178049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9250" y="1161976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Anonymity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429250" y="1322710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UUID-based identification with no personal data storage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88" y="1693097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9250" y="1677023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Avatars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429250" y="1837758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shield avatars generated from anonymous IDs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2208144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29250" y="2192071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Restrictions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429250" y="2352805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limited to authorized frontend domains only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788" y="2723192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29250" y="2707118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Prevention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5429250" y="2867853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 protect against database attacks</a:t>
            </a:r>
            <a:endParaRPr lang="en-US" sz="7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788" y="3238240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29250" y="3222166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Encryption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5429250" y="3382900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communications encrypted in transit with TLS/SSL</a:t>
            </a:r>
            <a:endParaRPr lang="en-US" sz="7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788" y="3753287"/>
            <a:ext cx="142875" cy="14287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29250" y="3737214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5429250" y="3897948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enforces user-based access control</a:t>
            </a:r>
            <a:endParaRPr lang="en-US" sz="7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788" y="4268335"/>
            <a:ext cx="142875" cy="14287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429250" y="4252261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800" dirty="0"/>
          </a:p>
        </p:txBody>
      </p:sp>
      <p:sp>
        <p:nvSpPr>
          <p:cNvPr id="30" name="Text 20"/>
          <p:cNvSpPr/>
          <p:nvPr/>
        </p:nvSpPr>
        <p:spPr>
          <a:xfrm>
            <a:off x="5429250" y="4412996"/>
            <a:ext cx="31432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throttling prevents abuse and ensures fair access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6160" y="414338"/>
            <a:ext cx="219168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523405"/>
            <a:ext cx="7429500" cy="14288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5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4" y="1551087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9365" y="1923455"/>
            <a:ext cx="38726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42938" y="2169914"/>
            <a:ext cx="10001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anonymous account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2000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38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991" y="1551087"/>
            <a:ext cx="150019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62187" y="1923455"/>
            <a:ext cx="64762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805918" y="2169914"/>
            <a:ext cx="96016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platform features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3143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81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275" y="1551087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51023" y="1923455"/>
            <a:ext cx="7559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Vents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034057" y="2169914"/>
            <a:ext cx="78988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global feed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4286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24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1551087"/>
            <a:ext cx="214313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79804" y="1923455"/>
            <a:ext cx="58439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Circle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4244280" y="2169914"/>
            <a:ext cx="655439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community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5429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67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991" y="1551087"/>
            <a:ext cx="150019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21173" y="1923455"/>
            <a:ext cx="787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5471582" y="2169914"/>
            <a:ext cx="48683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mood</a:t>
            </a:r>
            <a:endParaRPr lang="en-US" sz="650" dirty="0"/>
          </a:p>
        </p:txBody>
      </p:sp>
      <p:sp>
        <p:nvSpPr>
          <p:cNvPr id="30" name="Shape 22"/>
          <p:cNvSpPr/>
          <p:nvPr/>
        </p:nvSpPr>
        <p:spPr>
          <a:xfrm>
            <a:off x="6572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810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844" y="1551087"/>
            <a:ext cx="214313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57975" y="1923455"/>
            <a:ext cx="4000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599820" y="2169914"/>
            <a:ext cx="51633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650" dirty="0"/>
          </a:p>
        </p:txBody>
      </p:sp>
      <p:sp>
        <p:nvSpPr>
          <p:cNvPr id="35" name="Shape 26"/>
          <p:cNvSpPr/>
          <p:nvPr/>
        </p:nvSpPr>
        <p:spPr>
          <a:xfrm>
            <a:off x="7715250" y="1237655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7953310" y="1304627"/>
            <a:ext cx="9535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3844" y="1551087"/>
            <a:ext cx="214313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712041" y="1923455"/>
            <a:ext cx="57791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</a:t>
            </a:r>
            <a:endParaRPr lang="en-US" sz="800" dirty="0"/>
          </a:p>
        </p:txBody>
      </p:sp>
      <p:sp>
        <p:nvSpPr>
          <p:cNvPr id="39" name="Text 29"/>
          <p:cNvSpPr/>
          <p:nvPr/>
        </p:nvSpPr>
        <p:spPr>
          <a:xfrm>
            <a:off x="7619005" y="2169914"/>
            <a:ext cx="76399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profile</a:t>
            </a:r>
            <a:endParaRPr lang="en-US" sz="6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113" y="2731033"/>
            <a:ext cx="200025" cy="20002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285875" y="2697100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Onboarding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1285875" y="2872122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email or personal info required. Start supporting others immediately after signup.</a:t>
            </a:r>
            <a:endParaRPr lang="en-US" sz="7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2731033"/>
            <a:ext cx="200025" cy="20002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143500" y="2697100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Multi-Path Engagement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5143500" y="2872122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vent, join circles, or chat with AI—choose their own path to wellness.</a:t>
            </a:r>
            <a:endParaRPr lang="en-US" sz="7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3" y="3471807"/>
            <a:ext cx="200025" cy="200025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285875" y="3437874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Gamification</a:t>
            </a:r>
            <a:endParaRPr lang="en-US" sz="800" dirty="0"/>
          </a:p>
        </p:txBody>
      </p:sp>
      <p:sp>
        <p:nvSpPr>
          <p:cNvPr id="48" name="Text 35"/>
          <p:cNvSpPr/>
          <p:nvPr/>
        </p:nvSpPr>
        <p:spPr>
          <a:xfrm>
            <a:off x="1285875" y="3612896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 build streaks, encouraging consistent engagement and self-reflection.</a:t>
            </a:r>
            <a:endParaRPr lang="en-US" sz="7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7738" y="3471807"/>
            <a:ext cx="200025" cy="200025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5143500" y="3437874"/>
            <a:ext cx="3143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5143500" y="3612896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Forest &amp; Sage themes and customize display name and avatar preferences.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9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95417" y="485775"/>
            <a:ext cx="255316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2188443" y="1237655"/>
            <a:ext cx="476711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Topic-based communities where users connect with others facing similar challenges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106" y="1969889"/>
            <a:ext cx="51435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66401" y="2623542"/>
            <a:ext cx="567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464469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experiences with anxiety, panic attacks, and worry management strategies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927445" y="3427214"/>
            <a:ext cx="64567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1,240+ members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69889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8579" y="2623542"/>
            <a:ext cx="3668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Grief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786188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loss and honor memories with compassionate community support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284911" y="3427214"/>
            <a:ext cx="57417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 members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694" y="1969889"/>
            <a:ext cx="40005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8212" y="2623542"/>
            <a:ext cx="6110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07906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work stress, exhaustion, and recovery from professional overwhelm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6570883" y="3427214"/>
            <a:ext cx="64567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1,560+ members</a:t>
            </a:r>
            <a:endParaRPr lang="en-US" sz="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831" y="4004072"/>
            <a:ext cx="3429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839795" y="4657725"/>
            <a:ext cx="82097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464469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others seeking meaningful relationships and human connection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1927445" y="5461397"/>
            <a:ext cx="64567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2,100+ members</a:t>
            </a:r>
            <a:endParaRPr lang="en-US" sz="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004072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144017" y="4657725"/>
            <a:ext cx="85596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3786188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struggles with depression and celebrate small victories together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4249164" y="5461397"/>
            <a:ext cx="64567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1,890+ members</a:t>
            </a:r>
            <a:endParaRPr lang="en-US" sz="6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969" y="4004072"/>
            <a:ext cx="5715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78476" y="4657725"/>
            <a:ext cx="10304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107906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relationship challenges, boundaries, and healthy communication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6570883" y="5461397"/>
            <a:ext cx="64567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1,420+ members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1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024" y="485775"/>
            <a:ext cx="2323951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2366535" y="1237655"/>
            <a:ext cx="44109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24/7 empathetic listener powered by advanced language models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8" y="1914525"/>
            <a:ext cx="371475" cy="3714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69617" y="2471738"/>
            <a:ext cx="10615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143125" y="2721769"/>
            <a:ext cx="1714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available when you need support, no waiting, no judgment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88" y="1914525"/>
            <a:ext cx="371475" cy="3714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32220" y="2471738"/>
            <a:ext cx="12228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History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286375" y="2721769"/>
            <a:ext cx="1714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are saved for continuity across sessions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3484364"/>
            <a:ext cx="371475" cy="3714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97550" y="4041577"/>
            <a:ext cx="10056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2143125" y="4291608"/>
            <a:ext cx="1714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your situation and responds with empathy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670" y="3484364"/>
            <a:ext cx="417909" cy="3714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82645" y="4041577"/>
            <a:ext cx="11219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Tuning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286375" y="4291608"/>
            <a:ext cx="1714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tailored to support your emotional wellbeing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1571625" y="4898827"/>
            <a:ext cx="60007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886" y="5252442"/>
            <a:ext cx="171450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977061" y="5255121"/>
            <a:ext cx="7505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</a:t>
            </a:r>
            <a:endParaRPr lang="en-US" sz="8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407" y="5252442"/>
            <a:ext cx="171450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495582" y="5255121"/>
            <a:ext cx="88158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Support</a:t>
            </a:r>
            <a:endParaRPr lang="en-US" sz="8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7999" y="5252442"/>
            <a:ext cx="171450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45174" y="5255121"/>
            <a:ext cx="85180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Coping Strategies</a:t>
            </a:r>
            <a:endParaRPr lang="en-US" sz="8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817" y="5252442"/>
            <a:ext cx="171450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764992" y="5255121"/>
            <a:ext cx="65906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Tips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7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95166" y="485775"/>
            <a:ext cx="255366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14500" y="1094780"/>
            <a:ext cx="5715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emotional wellness with daily mood check-ins, build streaks, and watch your progress over time.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69" y="1806253"/>
            <a:ext cx="400050" cy="400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81588" y="2338462"/>
            <a:ext cx="110898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Tracking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035969" y="2606353"/>
            <a:ext cx="200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your mood on a 1-5 scale with emoji indicators for easy emotional expression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84" y="1806253"/>
            <a:ext cx="350044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22274" y="2338462"/>
            <a:ext cx="137126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Calculation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107781" y="2606353"/>
            <a:ext cx="200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consecutive day streaks to maintain consistent emotional check-in habits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69" y="3349303"/>
            <a:ext cx="400050" cy="4000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79997" y="3881512"/>
            <a:ext cx="11121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2035969" y="4149403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mood patterns over weeks and months to identify emotional trends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878" y="3349303"/>
            <a:ext cx="450056" cy="4000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31954" y="3881512"/>
            <a:ext cx="95187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5107781" y="4149403"/>
            <a:ext cx="200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badges and achievements for consistent check-ins and wellness milestones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1571625" y="4949503"/>
            <a:ext cx="60007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Daily Check-ins Matter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639" y="5231681"/>
            <a:ext cx="171450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56814" y="5237038"/>
            <a:ext cx="78776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Self-awareness</a:t>
            </a:r>
            <a:endParaRPr lang="en-US" sz="8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361" y="5231681"/>
            <a:ext cx="171450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643536" y="5237038"/>
            <a:ext cx="692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building</a:t>
            </a:r>
            <a:endParaRPr lang="en-US" sz="8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7926" y="5231681"/>
            <a:ext cx="171450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35101" y="5237038"/>
            <a:ext cx="8893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8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6222" y="5231681"/>
            <a:ext cx="171450" cy="14287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23397" y="5237038"/>
            <a:ext cx="5209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9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95507" y="485775"/>
            <a:ext cx="335298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Options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2120605" y="1237655"/>
            <a:ext cx="490278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can be deployed flexibly across multiple platforms and infrastructure providers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56" y="1969889"/>
            <a:ext cx="40005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83842" y="2623542"/>
            <a:ext cx="53287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464469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deployment for consistent environments across development and production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902386" y="3427214"/>
            <a:ext cx="69576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Scalable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969889"/>
            <a:ext cx="5715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82321" y="2623542"/>
            <a:ext cx="137933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786188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container execution with automatic scaling and pay-per-use pricing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111423" y="3427214"/>
            <a:ext cx="9211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Serverless, Auto-scaling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119" y="1969889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2105" y="2623542"/>
            <a:ext cx="463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07906" y="2891433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frontend deployment with edge functions and global CDN distribution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6541108" y="3427214"/>
            <a:ext cx="705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Edge, Global CDN</a:t>
            </a:r>
            <a:endParaRPr lang="en-US" sz="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81" y="4004072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10101" y="4657725"/>
            <a:ext cx="4803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464469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hosting and deployment pipeline with continuous integration support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1916757" y="5461397"/>
            <a:ext cx="66704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Integrated</a:t>
            </a:r>
            <a:endParaRPr lang="en-US" sz="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004072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218301" y="4657725"/>
            <a:ext cx="70739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3786188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virtual machine deployment with full control and customization options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4181326" y="5461397"/>
            <a:ext cx="78132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Control, Flexible</a:t>
            </a:r>
            <a:endParaRPr lang="en-US" sz="6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269" y="4004072"/>
            <a:ext cx="3429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8893" y="4657725"/>
            <a:ext cx="9696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107906" y="4925616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your own infrastructure for maximum privacy and data sovereignty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6543480" y="5461397"/>
            <a:ext cx="70045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Private, Sovereign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853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38410" y="414338"/>
            <a:ext cx="306718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Future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561284" y="1166217"/>
            <a:ext cx="21431" cy="4619104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1230511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3063" y="1557338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643063" y="1732359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Launch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43063" y="1939528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venting, support circles, AI companion, daily check-ins, and Forest &amp; Sage design system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30511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29188" y="1557338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4929188" y="1732359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29188" y="1939528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iOS and Android applications with offline support and push notifications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63" y="2406718"/>
            <a:ext cx="257175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3063" y="2733545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1643063" y="2908567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643063" y="3115735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video support circles and group video sessions with anonymity preservation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406718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29188" y="2733545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4929188" y="2908567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Insights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929188" y="3115735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wellness dashboard, mood trends, and evidence-based recommendations</a:t>
            </a:r>
            <a:endParaRPr lang="en-US" sz="7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063" y="3582925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43063" y="3909752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1643063" y="4084774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Internationalization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643063" y="4291943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support, localized circles, and culturally adapted content</a:t>
            </a:r>
            <a:endParaRPr lang="en-US" sz="7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3582925"/>
            <a:ext cx="17145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29188" y="3909752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4929188" y="4084774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Solutions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929188" y="4291943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 programs, institutional licensing, and custom integrations</a:t>
            </a:r>
            <a:endParaRPr lang="en-US" sz="7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3063" y="4759133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43063" y="5085959"/>
            <a:ext cx="3000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1643063" y="5260981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Expansion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1643063" y="5468150"/>
            <a:ext cx="30003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LLM models, personalized wellness coaching, and predictive mental health insights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85775"/>
            <a:ext cx="371475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Metrics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66217"/>
            <a:ext cx="3714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625" y="1369814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active participation, daily interactions, and community involvement across all platform features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28625" y="1827014"/>
            <a:ext cx="3714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8625" y="2030611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user return rates, session frequency, and long-term platform loyalty and commitment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487811"/>
            <a:ext cx="3714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269140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emotional wellbeing improvements, mood trends, and user-reported mental health outcomes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3148608"/>
            <a:ext cx="3714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8625" y="3352205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community growth, circle participation, and peer support effectiveness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00625" y="628650"/>
            <a:ext cx="1785938" cy="1010450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000625" y="628650"/>
            <a:ext cx="28575" cy="1010450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38" y="728663"/>
            <a:ext cx="214313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00675" y="741164"/>
            <a:ext cx="11174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Users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100638" y="971550"/>
            <a:ext cx="158591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45%+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00638" y="1259086"/>
            <a:ext cx="15859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registered users engage daily with platform features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929438" y="628650"/>
            <a:ext cx="1785938" cy="1010450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929438" y="628650"/>
            <a:ext cx="28575" cy="1010450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728663"/>
            <a:ext cx="171450" cy="1714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86625" y="741164"/>
            <a:ext cx="10503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029450" y="971550"/>
            <a:ext cx="158591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029450" y="1259086"/>
            <a:ext cx="15859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return within 30 days of initial signup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5000625" y="1767687"/>
            <a:ext cx="1785938" cy="113189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5000625" y="1767687"/>
            <a:ext cx="28575" cy="1131894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638" y="1867700"/>
            <a:ext cx="171450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57813" y="1880202"/>
            <a:ext cx="11859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Improvement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100638" y="2110587"/>
            <a:ext cx="158591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100638" y="2398123"/>
            <a:ext cx="15859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mood score increase after 30 days of use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6929438" y="1767687"/>
            <a:ext cx="1785938" cy="1131894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929438" y="1767687"/>
            <a:ext cx="28575" cy="1131894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50" y="1867700"/>
            <a:ext cx="214313" cy="1714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29488" y="1880202"/>
            <a:ext cx="12573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Interactions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029450" y="2110587"/>
            <a:ext cx="158591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8.5K+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7029450" y="2398123"/>
            <a:ext cx="15859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peer support messages and reactions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5000625" y="2906725"/>
            <a:ext cx="1785938" cy="1010450"/>
          </a:xfrm>
          <a:prstGeom prst="rect">
            <a:avLst/>
          </a:prstGeom>
          <a:solidFill>
            <a:srgbClr val="7BB342">
              <a:alpha val="8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5000625" y="2906725"/>
            <a:ext cx="28575" cy="1010450"/>
          </a:xfrm>
          <a:prstGeom prst="rect">
            <a:avLst/>
          </a:prstGeom>
          <a:solidFill>
            <a:srgbClr val="7CB342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0638" y="3006737"/>
            <a:ext cx="150019" cy="1714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36381" y="3019239"/>
            <a:ext cx="12815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Check-in Streak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100638" y="3249625"/>
            <a:ext cx="158591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5100638" y="3537161"/>
            <a:ext cx="15859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consecutive daily check-in participation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3429000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89472"/>
            <a:ext cx="3429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stands apart through a unique combination of privacy-first design, advanced technology, and genuine community focus that competitors cannot replicate.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59" y="1332672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1311241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Anonymity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0" y="1471975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personal data collection—truly anonymous from day one</a:t>
            </a:r>
            <a:endParaRPr lang="en-US" sz="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644" y="1794867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0" y="1773436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486400" y="1934170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empathetic companion with persistent conversation history</a:t>
            </a:r>
            <a:endParaRPr lang="en-US" sz="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2257062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0" y="2235631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Excellence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5486400" y="2396365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&amp; Sage theming system with pixel-perfect UI/UX</a:t>
            </a:r>
            <a:endParaRPr lang="en-US" sz="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075" y="2719257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0" y="2697826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5486400" y="2858560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Pattern backend enables scalability and flexibility</a:t>
            </a:r>
            <a:endParaRPr lang="en-US" sz="6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791" y="3181452"/>
            <a:ext cx="150019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6400" y="3160021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Design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5486400" y="3320755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at every layer with cryptographic avatars</a:t>
            </a:r>
            <a:endParaRPr lang="en-US" sz="6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2075" y="3643647"/>
            <a:ext cx="171450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3622216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Focus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5486400" y="3782950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compliant with inclusive design principles</a:t>
            </a:r>
            <a:endParaRPr lang="en-US" sz="6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2075" y="4105842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86400" y="4084411"/>
            <a:ext cx="3086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Community-Driven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5486400" y="4245146"/>
            <a:ext cx="30861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support circles with genuine human connection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2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66787" y="485775"/>
            <a:ext cx="261042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14500" y="1237655"/>
            <a:ext cx="5715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revenue streams that support platform growth while keeping core features free and accessible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56" y="2199159"/>
            <a:ext cx="400050" cy="400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26248" y="2774231"/>
            <a:ext cx="104806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Core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464469" y="3024262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essential features free forever: venting, circles, AI companion, check-ins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72" y="2199159"/>
            <a:ext cx="450056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48652" y="2774231"/>
            <a:ext cx="12466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Features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786188" y="3024262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analytics, priority support, custom themes, and ad-free experience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88" y="2199159"/>
            <a:ext cx="500063" cy="4000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57001" y="2774231"/>
            <a:ext cx="8734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07906" y="302426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Collaborations with mental health organizations and wellness brands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1773966" y="4492303"/>
            <a:ext cx="9526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464469" y="4742334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brand partnerships and mental health awareness campaigns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3968772" y="4492303"/>
            <a:ext cx="12064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Funding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3786188" y="4742334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research grants and non-profit foundation support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3917231"/>
            <a:ext cx="300038" cy="4000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87074" y="4492303"/>
            <a:ext cx="14132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Licensing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107906" y="4742334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 programs and institutional deployments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88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5817" y="485775"/>
            <a:ext cx="285236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Expertise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77175" y="1237655"/>
            <a:ext cx="558962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combining technical excellence with mental health expertise and design mastery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66" y="2029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046" y="2682813"/>
            <a:ext cx="124661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381116" y="2932844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expert with 8+ years building scalable systems and implementing design patterns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594424" y="3468625"/>
            <a:ext cx="1287884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Spring, MySQL, REST APIs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22" y="2029160"/>
            <a:ext cx="5715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36960" y="2682813"/>
            <a:ext cx="12700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Engineer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714722" y="2932844"/>
            <a:ext cx="1714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specialist with 6+ years creating responsive, accessible user interfaces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022461" y="3318607"/>
            <a:ext cx="109902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Vite, CSS, UX Design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06" y="20291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0164" y="2682813"/>
            <a:ext cx="119085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Designer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048356" y="2932844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systems expert focused on creating pixel-perfect, inclusive experiences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6202142" y="3468625"/>
            <a:ext cx="1406900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UI/UX, Design Systems, Accessibility</a:t>
            </a:r>
            <a:endParaRPr lang="en-US" sz="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616" y="4081202"/>
            <a:ext cx="5715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42867" y="4734855"/>
            <a:ext cx="11909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381116" y="4984886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specialist ensuring secure, scalable, and reliable deployment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1547459" y="5520668"/>
            <a:ext cx="1381813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Kubernetes, Cloud, Security</a:t>
            </a:r>
            <a:endParaRPr lang="en-US" sz="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797" y="4081202"/>
            <a:ext cx="51435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24390" y="4734855"/>
            <a:ext cx="149516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Advisor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3714722" y="4984886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counselor ensuring platform supports genuine wellness and peer support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3920775" y="5520668"/>
            <a:ext cx="1302423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Psychology, Counseling, Wellness</a:t>
            </a:r>
            <a:endParaRPr lang="en-US" sz="6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06" y="4081202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49789" y="4734855"/>
            <a:ext cx="11116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6048356" y="4984886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leader coordinating cross-functional teams and ensuring on-time delivery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6390922" y="5520668"/>
            <a:ext cx="102934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Agile, Leadership, Strategy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49494" y="891741"/>
            <a:ext cx="3845012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Community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1714500" y="158610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 toward emotional wellness, peer support, and genuine human connection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23" y="2484434"/>
            <a:ext cx="428625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6357" y="2980925"/>
            <a:ext cx="12573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Others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28" y="2484434"/>
            <a:ext cx="428625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62366" y="2980925"/>
            <a:ext cx="1428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Be Supported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28" y="2484434"/>
            <a:ext cx="342900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19741" y="2980925"/>
            <a:ext cx="8478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 Together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2071688" y="3702444"/>
            <a:ext cx="5000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 is a safe, anonymous space where you can vent freely, find community, and access AI-powered support whenever you need it. No judgment. No pressure. Just genuine care.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3078091" y="4491047"/>
            <a:ext cx="1319361" cy="389334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3" name="Text 7"/>
          <p:cNvSpPr/>
          <p:nvPr/>
        </p:nvSpPr>
        <p:spPr>
          <a:xfrm>
            <a:off x="3078091" y="4491047"/>
            <a:ext cx="1319361" cy="389334"/>
          </a:xfrm>
          <a:prstGeom prst="rect">
            <a:avLst/>
          </a:prstGeom>
          <a:noFill/>
          <a:ln/>
        </p:spPr>
        <p:txBody>
          <a:bodyPr wrap="square" lIns="340233" tIns="136017" rIns="34023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NOW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626053" y="4491047"/>
            <a:ext cx="1439856" cy="389334"/>
          </a:xfrm>
          <a:prstGeom prst="rect">
            <a:avLst/>
          </a:prstGeom>
          <a:noFill/>
          <a:ln/>
        </p:spPr>
        <p:txBody>
          <a:bodyPr wrap="square" lIns="340233" tIns="136017" rIns="34023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4647" y="833503"/>
            <a:ext cx="22947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14500" y="1644318"/>
            <a:ext cx="5715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exploring WithMe—a platform dedicated to mental wellness, community support, and genuine human connection. We're excited to build a healthier, more compassionate world together.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972399" y="2937337"/>
            <a:ext cx="119920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399" y="3169509"/>
            <a:ext cx="171450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9574" y="3174867"/>
            <a:ext cx="94202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hello@withme.app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620" y="3383821"/>
            <a:ext cx="171450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71795" y="3389179"/>
            <a:ext cx="85758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www.withme.app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3911231" y="3669571"/>
            <a:ext cx="13215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US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494" y="3908887"/>
            <a:ext cx="228600" cy="2286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681" y="3908887"/>
            <a:ext cx="200025" cy="22860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294" y="3908887"/>
            <a:ext cx="200025" cy="228600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3908887"/>
            <a:ext cx="228600" cy="2286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071688" y="4435739"/>
            <a:ext cx="500062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B3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creating a healthier, more connected world where everyone feels heard, supported, and valued.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2026-05-24T20:11:14Z</dcterms:created>
  <dcterms:modified xsi:type="dcterms:W3CDTF">2026-05-24T20:11:14Z</dcterms:modified>
</cp:coreProperties>
</file>